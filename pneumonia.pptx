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71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0" name="PHD" initials="P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FFB8795-0E04-4383-9465-81E9F7D843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5"/>
        <p:guide pos="28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commentAuthors" Target="commentAuthors.xml"  /><Relationship Id="rId32" Type="http://schemas.openxmlformats.org/officeDocument/2006/relationships/presProps" Target="presProps.xml"  /><Relationship Id="rId33" Type="http://schemas.openxmlformats.org/officeDocument/2006/relationships/viewProps" Target="viewProps.xml"  /><Relationship Id="rId34" Type="http://schemas.openxmlformats.org/officeDocument/2006/relationships/theme" Target="theme/theme1.xml"  /><Relationship Id="rId35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6" name="Google Shape;86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9" name="Google Shape;99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5" name="Google Shape;115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9f19c39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59" name="Google Shape;259;g29f19c396ea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;n"/>
          <p:cNvSpPr>
            <a:spLocks noGrp="1" noRot="1" noChangeAspect="1" noTextEdit="1"/>
          </p:cNvSpPr>
          <p:nvPr>
            <p:ph type="sldImg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Google Shape;6;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Google Shape;8;n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9f19c39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59" name="Google Shape;259;g29f19c396ea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9f19c39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59" name="Google Shape;259;g29f19c396ea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;n"/>
          <p:cNvSpPr>
            <a:spLocks noGrp="1" noRot="1" noChangeAspect="1" noTextEdit="1"/>
          </p:cNvSpPr>
          <p:nvPr>
            <p:ph type="sldImg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Google Shape;6;n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Google Shape;8;n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9f19c39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59" name="Google Shape;259;g29f19c396ea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9f19c39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59" name="Google Shape;259;g29f19c396ea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cb0e7e5008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35" name="Google Shape;535;g3cb0e7e5008_0_2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OBJEC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 idx="0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285660" marR="0" lvl="0" indent="-171360" algn="l" rtl="0" eaLnBrk="1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200"/>
            </a:lvl1pPr>
            <a:lvl2pPr marL="971340" marR="0" lvl="1" indent="-399840" algn="l" rtl="0" eaLnBrk="1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200"/>
            </a:lvl2pPr>
            <a:lvl3pPr marL="1371600" marR="0" lvl="2" indent="-342900" algn="l" rtl="0" eaLnBrk="1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2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r>
              <a:rPr lang="en-US" altLang="ko-KR"/>
              <a:t>1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2</a:t>
            </a:r>
            <a:endParaRPr lang="en-US" altLang="ko-KR"/>
          </a:p>
          <a:p>
            <a:pPr lvl="2">
              <a:defRPr/>
            </a:pPr>
            <a:r>
              <a:rPr lang="en-US" altLang="ko-KR"/>
              <a:t>3</a:t>
            </a:r>
            <a:endParaRPr lang="en-US" altLang="ko-KR"/>
          </a:p>
          <a:p>
            <a:pPr lvl="2">
              <a:defRPr/>
            </a:pPr>
            <a:endParaRPr lang="en-US" altLang="ko-KR"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ctrTitle" idx="0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_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 idx="0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_OBJECTS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 idx="0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_OBJECTS_WITH_TEXT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 idx="0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OBJECT_WITH_CAPTION_TEXT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 idx="0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PICTURE_WITH_CAPTION_TEXT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 idx="0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VERTICAL_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idx="0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VERTICAL_TITLE_AND_VERTICAL_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 idx="0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테마">
    <p:bg>
      <p:bgPr shadeToTitle="0">
        <a:gradFill>
          <a:gsLst>
            <a:gs pos="0">
              <a:srgbClr val="d8d8d8"/>
            </a:gs>
            <a:gs pos="50000">
              <a:srgbClr val="f2f2f2"/>
            </a:gs>
            <a:gs pos="100000">
              <a:srgbClr val="d8d8d8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 idx="0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25400" indent="0">
              <a:buNone/>
              <a:defRPr/>
            </a:pPr>
            <a:r>
              <a:rPr lang="ko-KR" altLang="en-US"/>
              <a:t/>
            </a:r>
            <a:endParaRPr lang="en-US" altLang="ko-KR"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225320" marR="0" lvl="0" indent="-199920" algn="l" rtl="0" eaLnBrk="1" latinLnBrk="0" hangingPunct="1">
        <a:lnSpc>
          <a:spcPct val="100000"/>
        </a:lnSpc>
        <a:spcBef>
          <a:spcPts val="640"/>
        </a:spcBef>
        <a:spcAft>
          <a:spcPts val="0"/>
        </a:spcAft>
        <a:buClr>
          <a:schemeClr val="dk1"/>
        </a:buClr>
        <a:buSzPct val="100000"/>
        <a:buFont typeface="Arial"/>
        <a:buChar char="•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docs.pytorch.org/vision/main/_modules/torchvision/models/detection/faster_rcnn.html" TargetMode="External" /><Relationship Id="rId3" Type="http://schemas.openxmlformats.org/officeDocument/2006/relationships/hyperlink" Target="https://github.com/pytorch/vision/blob/main/torchvision/models/detection/rpn.py" TargetMode="External" /><Relationship Id="rId4" Type="http://schemas.openxmlformats.org/officeDocument/2006/relationships/hyperlink" Target="https://m.blog.naver.com/dkrlaosx/222974417261" TargetMode="External" /><Relationship Id="rId5" Type="http://schemas.openxmlformats.org/officeDocument/2006/relationships/hyperlink" Target="https://blog.naver.com/rudghkdmlqkd/223955076822" TargetMode="External"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3175382" y="1949734"/>
            <a:ext cx="2880300" cy="601041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altLang="ko-KR">
                <a:solidFill>
                  <a:srgbClr val="191919"/>
                </a:solidFill>
                <a:latin typeface="맑은 고딕"/>
                <a:ea typeface="맑은 고딕"/>
                <a:cs typeface="맑은 고딕"/>
                <a:sym typeface="맑은 고딕"/>
              </a:rPr>
              <a:t>Pneumonia Detection</a:t>
            </a:r>
            <a:br>
              <a:rPr lang="en-US" altLang="ko-KR">
                <a:solidFill>
                  <a:srgbClr val="191919"/>
                </a:solidFill>
                <a:latin typeface="맑은 고딕"/>
                <a:ea typeface="맑은 고딕"/>
                <a:cs typeface="맑은 고딕"/>
                <a:sym typeface="맑은 고딕"/>
              </a:rPr>
            </a:br>
            <a:r>
              <a:rPr lang="en-US" altLang="ko-KR">
                <a:solidFill>
                  <a:srgbClr val="191919"/>
                </a:solidFill>
                <a:latin typeface="맑은 고딕"/>
                <a:ea typeface="맑은 고딕"/>
                <a:cs typeface="맑은 고딕"/>
                <a:sym typeface="맑은 고딕"/>
              </a:rPr>
              <a:t>(based on Chest X-ray)</a:t>
            </a:r>
            <a:endParaRPr lang="en-US" altLang="ko-KR">
              <a:solidFill>
                <a:srgbClr val="191919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233283" y="1663458"/>
            <a:ext cx="873900" cy="2292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205485" y="1663458"/>
            <a:ext cx="934500" cy="2463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107294" y="1663458"/>
            <a:ext cx="216900" cy="229200"/>
          </a:xfrm>
          <a:prstGeom prst="rtTriangle">
            <a:avLst/>
          </a:prstGeom>
          <a:solidFill>
            <a:srgbClr val="0f243e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92" name="Google Shape;92;p13"/>
          <p:cNvSpPr/>
          <p:nvPr/>
        </p:nvSpPr>
        <p:spPr>
          <a:xfrm rot="16200000" flipH="1">
            <a:off x="4140102" y="1663736"/>
            <a:ext cx="228900" cy="229200"/>
          </a:xfrm>
          <a:prstGeom prst="rtTriangle">
            <a:avLst/>
          </a:prstGeom>
          <a:solidFill>
            <a:srgbClr val="d8d8d8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4369145" y="1663458"/>
            <a:ext cx="1499100" cy="229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947132" y="1674344"/>
            <a:ext cx="934500" cy="21920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900">
              <a:solidFill>
                <a:srgbClr val="3f3f3f"/>
              </a:solidFill>
              <a:latin typeface="맑은 고딕"/>
              <a:ea typeface="맑은 고딕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3225361" y="2643834"/>
            <a:ext cx="2642784" cy="283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491890" y="2643819"/>
            <a:ext cx="2376300" cy="2463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>
              <a:solidFill>
                <a:srgbClr val="3f3f3f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/>
        </p:nvSpPr>
        <p:spPr>
          <a:xfrm>
            <a:off x="3496643" y="1862702"/>
            <a:ext cx="2160300" cy="2769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200">
                <a:solidFill>
                  <a:srgbClr val="262626"/>
                </a:solidFill>
                <a:latin typeface="맑은 고딕"/>
                <a:ea typeface="맑은 고딕"/>
              </a:rPr>
              <a:t>01 </a:t>
            </a:r>
            <a:r>
              <a:rPr lang="ko-KR" altLang="en-US" sz="1200">
                <a:solidFill>
                  <a:srgbClr val="262626"/>
                </a:solidFill>
                <a:latin typeface="맑은 고딕"/>
                <a:ea typeface="맑은 고딕"/>
              </a:rPr>
              <a:t>문제 정의</a:t>
            </a:r>
            <a:endParaRPr lang="ko-KR" altLang="en-US" sz="12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502043" y="2294750"/>
            <a:ext cx="2127600" cy="2769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200">
                <a:solidFill>
                  <a:srgbClr val="262626"/>
                </a:solidFill>
                <a:latin typeface="맑은 고딕"/>
                <a:ea typeface="맑은 고딕"/>
              </a:rPr>
              <a:t>02 </a:t>
            </a:r>
            <a:r>
              <a:rPr lang="ko-KR" altLang="en-US" sz="1200">
                <a:solidFill>
                  <a:srgbClr val="262626"/>
                </a:solidFill>
                <a:latin typeface="맑은 고딕"/>
                <a:ea typeface="맑은 고딕"/>
              </a:rPr>
              <a:t>데이터셋</a:t>
            </a:r>
            <a:endParaRPr lang="ko-KR" altLang="en-US" sz="12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506915" y="2726798"/>
            <a:ext cx="1367700" cy="2769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200">
                <a:solidFill>
                  <a:srgbClr val="262626"/>
                </a:solidFill>
                <a:latin typeface="맑은 고딕"/>
                <a:ea typeface="맑은 고딕"/>
              </a:rPr>
              <a:t>03 </a:t>
            </a:r>
            <a:r>
              <a:rPr lang="ko-KR" altLang="en-US" sz="1200">
                <a:solidFill>
                  <a:srgbClr val="262626"/>
                </a:solidFill>
                <a:latin typeface="맑은 고딕"/>
                <a:ea typeface="맑은 고딕"/>
              </a:rPr>
              <a:t>데이터 분석 및 전처리</a:t>
            </a:r>
            <a:endParaRPr lang="ko-KR" altLang="en-US" sz="12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506613" y="3158850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200">
                <a:solidFill>
                  <a:srgbClr val="262626"/>
                </a:solidFill>
                <a:latin typeface="맑은 고딕"/>
                <a:ea typeface="맑은 고딕"/>
              </a:rPr>
              <a:t>04 </a:t>
            </a:r>
            <a:r>
              <a:rPr lang="ko-KR" altLang="en-US" sz="1200">
                <a:solidFill>
                  <a:srgbClr val="262626"/>
                </a:solidFill>
                <a:latin typeface="맑은 고딕"/>
                <a:ea typeface="맑은 고딕"/>
              </a:rPr>
              <a:t>모델</a:t>
            </a:r>
            <a:endParaRPr lang="ko-KR" altLang="en-US" sz="12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480313" y="1419622"/>
            <a:ext cx="542692" cy="229193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3463416" y="1419622"/>
            <a:ext cx="934467" cy="235803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000">
                <a:solidFill>
                  <a:srgbClr val="f2f2f2"/>
                </a:solidFill>
                <a:latin typeface="맑은 고딕"/>
                <a:ea typeface="맑은 고딕"/>
              </a:rPr>
              <a:t>목차</a:t>
            </a:r>
            <a:endParaRPr sz="100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021231" y="1419622"/>
            <a:ext cx="217037" cy="229193"/>
          </a:xfrm>
          <a:prstGeom prst="rtTriangle">
            <a:avLst/>
          </a:prstGeom>
          <a:solidFill>
            <a:srgbClr val="0f243e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8" name="Google Shape;108;p14"/>
          <p:cNvSpPr/>
          <p:nvPr/>
        </p:nvSpPr>
        <p:spPr>
          <a:xfrm rot="16200000" flipH="1">
            <a:off x="4044177" y="1421845"/>
            <a:ext cx="233638" cy="229193"/>
          </a:xfrm>
          <a:prstGeom prst="rtTriangle">
            <a:avLst/>
          </a:prstGeom>
          <a:solidFill>
            <a:srgbClr val="d8d8d8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496643" y="4346567"/>
            <a:ext cx="2138400" cy="34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275593" y="1419622"/>
            <a:ext cx="1348063" cy="22601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3516719" y="3616048"/>
            <a:ext cx="1367700" cy="2769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200">
                <a:solidFill>
                  <a:srgbClr val="262626"/>
                </a:solidFill>
                <a:latin typeface="맑은 고딕"/>
                <a:ea typeface="맑은 고딕"/>
              </a:rPr>
              <a:t>05 실험 및 결과</a:t>
            </a:r>
            <a:endParaRPr>
              <a:latin typeface="맑은 고딕"/>
              <a:ea typeface="맑은 고딕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3516424" y="4022950"/>
            <a:ext cx="1132500" cy="2769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200">
                <a:solidFill>
                  <a:srgbClr val="262626"/>
                </a:solidFill>
                <a:latin typeface="맑은 고딕"/>
                <a:ea typeface="맑은 고딕"/>
              </a:rPr>
              <a:t>06 결론</a:t>
            </a:r>
            <a:endParaRPr sz="12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2523118" y="2346434"/>
            <a:ext cx="4104456" cy="353943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700">
                <a:solidFill>
                  <a:srgbClr val="262626"/>
                </a:solidFill>
                <a:latin typeface="맑은 고딕"/>
                <a:ea typeface="맑은 고딕"/>
              </a:rPr>
              <a:t>문제 정의</a:t>
            </a:r>
            <a:endParaRPr lang="ko-KR" altLang="en-US" sz="17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573846" y="2192138"/>
            <a:ext cx="307916" cy="1548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3881344" y="2192138"/>
            <a:ext cx="154800" cy="154800"/>
          </a:xfrm>
          <a:prstGeom prst="rtTriangle">
            <a:avLst/>
          </a:prstGeom>
          <a:solidFill>
            <a:srgbClr val="0f243e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20" name="Google Shape;120;p15"/>
          <p:cNvSpPr/>
          <p:nvPr/>
        </p:nvSpPr>
        <p:spPr>
          <a:xfrm rot="16200000" flipH="1">
            <a:off x="3916436" y="2192425"/>
            <a:ext cx="154800" cy="154800"/>
          </a:xfrm>
          <a:prstGeom prst="rtTriangle">
            <a:avLst/>
          </a:prstGeom>
          <a:solidFill>
            <a:srgbClr val="d8d8d8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067507" y="2192137"/>
            <a:ext cx="1530183" cy="15429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3572217" y="2162227"/>
            <a:ext cx="934467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900">
                <a:solidFill>
                  <a:srgbClr val="f2f2f2"/>
                </a:solidFill>
                <a:latin typeface="맑은 고딕"/>
                <a:ea typeface="맑은 고딕"/>
              </a:rPr>
              <a:t>01</a:t>
            </a:r>
            <a:endParaRPr sz="90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문제 유형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Obect Detection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문제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Bounding 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기반 병변 위치 탐지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입력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출력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입력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Chest X-ray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이미지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출력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: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593480" lvl="1" indent="-153865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폐렴 병변 위치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(Bounding Box)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593480" lvl="1" indent="-153865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Confidence score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특징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폐렴의 유무와 위치 찾기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단순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Classification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이 아닌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detection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문제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한 이미지에 여러 병변 존재 가능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문제 정의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76800" y="742950"/>
            <a:ext cx="4076700" cy="407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/>
        </p:nvSpPr>
        <p:spPr>
          <a:xfrm>
            <a:off x="2523118" y="2346434"/>
            <a:ext cx="4104600" cy="354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700">
                <a:solidFill>
                  <a:srgbClr val="262626"/>
                </a:solidFill>
                <a:latin typeface="맑은 고딕"/>
                <a:ea typeface="맑은 고딕"/>
              </a:rPr>
              <a:t>데이터셋</a:t>
            </a:r>
            <a:endParaRPr lang="ko-KR" altLang="en-US" sz="17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3572217" y="2162227"/>
            <a:ext cx="934500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90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  <p:sp>
        <p:nvSpPr>
          <p:cNvPr id="272" name="Google Shape;118;p15"/>
          <p:cNvSpPr/>
          <p:nvPr/>
        </p:nvSpPr>
        <p:spPr>
          <a:xfrm>
            <a:off x="3573846" y="2192138"/>
            <a:ext cx="307916" cy="1548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3" name="Google Shape;119;p15"/>
          <p:cNvSpPr/>
          <p:nvPr/>
        </p:nvSpPr>
        <p:spPr>
          <a:xfrm>
            <a:off x="3881344" y="2192138"/>
            <a:ext cx="154800" cy="1548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4" name="Google Shape;120;p15"/>
          <p:cNvSpPr/>
          <p:nvPr/>
        </p:nvSpPr>
        <p:spPr>
          <a:xfrm rot="16200000" flipH="1">
            <a:off x="3916436" y="2192425"/>
            <a:ext cx="154800" cy="154800"/>
          </a:xfrm>
          <a:prstGeom prst="rtTriangle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5" name="Google Shape;121;p15"/>
          <p:cNvSpPr/>
          <p:nvPr/>
        </p:nvSpPr>
        <p:spPr>
          <a:xfrm>
            <a:off x="4067507" y="2192137"/>
            <a:ext cx="1530183" cy="154297"/>
          </a:xfrm>
          <a:prstGeom prst="rect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6" name="Google Shape;122;p15"/>
          <p:cNvSpPr txBox="1"/>
          <p:nvPr/>
        </p:nvSpPr>
        <p:spPr>
          <a:xfrm>
            <a:off x="3572217" y="2162227"/>
            <a:ext cx="934467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데이터셋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RSNA Pneumonia Detection Challenge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https://www.kaggle.com/competitions/rsna-pneumonia-detection-challenge/data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규모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Image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약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26,000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장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Annotation :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약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30,000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개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컬럼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patientID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x, y, width, height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Target (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병변 존재 여부에 따라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0 : 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없음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(NaN) / 1 : 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존재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그 외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class, age, sex, modality, position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데이터셋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3649135"/>
            <a:ext cx="9144000" cy="1018114"/>
          </a:xfrm>
          <a:prstGeom prst="rect">
            <a:avLst/>
          </a:prstGeom>
        </p:spPr>
      </p:pic>
      <p:sp>
        <p:nvSpPr>
          <p:cNvPr id="12" name=""/>
          <p:cNvSpPr/>
          <p:nvPr/>
        </p:nvSpPr>
        <p:spPr>
          <a:xfrm>
            <a:off x="0" y="4720590"/>
            <a:ext cx="1306830" cy="4229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>
              <a:defRPr/>
            </a:pPr>
            <a:r>
              <a:rPr xmlns:mc="http://schemas.openxmlformats.org/markup-compatibility/2006" xmlns:hp="http://schemas.haansoft.com/office/presentation/8.0" sz="1090" b="0" i="0" strike="noStrike" mc:Ignorable="hp" hp:hslEmbossed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</a:rPr>
              <a:t>Chest radiography</a:t>
            </a:r>
            <a:r>
              <a:rPr xmlns:mc="http://schemas.openxmlformats.org/markup-compatibility/2006" xmlns:hp="http://schemas.haansoft.com/office/presentation/8.0" lang="ko-KR" altLang="en-US" sz="1090" b="0" i="0" strike="noStrike" mc:Ignorable="hp" hp:hslEmbossed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090" b="0" i="0" strike="noStrike" mc:Ignorable="hp" hp:hslEmbossed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</a:rPr>
              <a:t>Posterior-Anterior</a:t>
            </a:r>
            <a:endParaRPr xmlns:mc="http://schemas.openxmlformats.org/markup-compatibility/2006" xmlns:hp="http://schemas.haansoft.com/office/presentation/8.0" lang="en-US" altLang="ko-KR" sz="1090" b="0" i="0" strike="noStrike" mc:Ignorable="hp" hp:hslEmbossed="0">
              <a:solidFill>
                <a:srgbClr val="bfbfbf">
                  <a:alpha val="10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/>
        </p:nvSpPr>
        <p:spPr>
          <a:xfrm>
            <a:off x="2523118" y="2346434"/>
            <a:ext cx="4104600" cy="354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700">
                <a:solidFill>
                  <a:srgbClr val="262626"/>
                </a:solidFill>
                <a:latin typeface="맑은 고딕"/>
                <a:ea typeface="맑은 고딕"/>
              </a:rPr>
              <a:t>데이터 분석 및 전처리</a:t>
            </a:r>
            <a:endParaRPr lang="ko-KR" altLang="en-US" sz="17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3572217" y="2162227"/>
            <a:ext cx="934500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90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  <p:sp>
        <p:nvSpPr>
          <p:cNvPr id="272" name="Google Shape;118;p15"/>
          <p:cNvSpPr/>
          <p:nvPr/>
        </p:nvSpPr>
        <p:spPr>
          <a:xfrm>
            <a:off x="3573846" y="2192138"/>
            <a:ext cx="307916" cy="1548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3" name="Google Shape;119;p15"/>
          <p:cNvSpPr/>
          <p:nvPr/>
        </p:nvSpPr>
        <p:spPr>
          <a:xfrm>
            <a:off x="3881344" y="2192138"/>
            <a:ext cx="154800" cy="1548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4" name="Google Shape;120;p15"/>
          <p:cNvSpPr/>
          <p:nvPr/>
        </p:nvSpPr>
        <p:spPr>
          <a:xfrm rot="16200000" flipH="1">
            <a:off x="3916436" y="2192425"/>
            <a:ext cx="154800" cy="154800"/>
          </a:xfrm>
          <a:prstGeom prst="rtTriangle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5" name="Google Shape;121;p15"/>
          <p:cNvSpPr/>
          <p:nvPr/>
        </p:nvSpPr>
        <p:spPr>
          <a:xfrm>
            <a:off x="4067507" y="2192137"/>
            <a:ext cx="1530183" cy="154297"/>
          </a:xfrm>
          <a:prstGeom prst="rect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6" name="Google Shape;122;p15"/>
          <p:cNvSpPr txBox="1"/>
          <p:nvPr/>
        </p:nvSpPr>
        <p:spPr>
          <a:xfrm>
            <a:off x="3572217" y="2162227"/>
            <a:ext cx="934467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상태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하나의 이미지에 여러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존재 가능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(Images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개수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!= Annotaions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개수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Negative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샘플이 더 많은 상태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이 외의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Chest x-ray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지식 필요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주의할 점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Class imbalance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False Negative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방향으로 학습될 위험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대응 방향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imbalance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처리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recall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우선시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데이터 분석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주요 처리 과정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변환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(x, y, w, h) -&gt; (x1, y1, x2, y2)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patientID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기준 그룹화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핵심 처리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Nagative Downsampling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positive : negative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약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1.5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로 조정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기대 효과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데이터 불균형 완화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모델 병변 탐지에 더 집중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recall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개선 기대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데이터 전처리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/>
        </p:nvSpPr>
        <p:spPr>
          <a:xfrm>
            <a:off x="2523118" y="2346434"/>
            <a:ext cx="4104600" cy="354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700">
                <a:solidFill>
                  <a:srgbClr val="262626"/>
                </a:solidFill>
                <a:latin typeface="맑은 고딕"/>
                <a:ea typeface="맑은 고딕"/>
              </a:rPr>
              <a:t>모델</a:t>
            </a:r>
            <a:endParaRPr lang="ko-KR" altLang="en-US" sz="17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3572217" y="2162227"/>
            <a:ext cx="934500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90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  <p:sp>
        <p:nvSpPr>
          <p:cNvPr id="272" name="Google Shape;118;p15"/>
          <p:cNvSpPr/>
          <p:nvPr/>
        </p:nvSpPr>
        <p:spPr>
          <a:xfrm>
            <a:off x="3573846" y="2192138"/>
            <a:ext cx="307916" cy="1548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3" name="Google Shape;119;p15"/>
          <p:cNvSpPr/>
          <p:nvPr/>
        </p:nvSpPr>
        <p:spPr>
          <a:xfrm>
            <a:off x="3881344" y="2192138"/>
            <a:ext cx="154800" cy="1548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4" name="Google Shape;120;p15"/>
          <p:cNvSpPr/>
          <p:nvPr/>
        </p:nvSpPr>
        <p:spPr>
          <a:xfrm rot="16200000" flipH="1">
            <a:off x="3916436" y="2192425"/>
            <a:ext cx="154800" cy="154800"/>
          </a:xfrm>
          <a:prstGeom prst="rtTriangle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5" name="Google Shape;121;p15"/>
          <p:cNvSpPr/>
          <p:nvPr/>
        </p:nvSpPr>
        <p:spPr>
          <a:xfrm>
            <a:off x="4067507" y="2192137"/>
            <a:ext cx="1530183" cy="154297"/>
          </a:xfrm>
          <a:prstGeom prst="rect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6" name="Google Shape;122;p15"/>
          <p:cNvSpPr txBox="1"/>
          <p:nvPr/>
        </p:nvSpPr>
        <p:spPr>
          <a:xfrm>
            <a:off x="3572217" y="2162227"/>
            <a:ext cx="934467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사용 모델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Faster R-CNN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모델 구조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1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선택 이유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검증된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two - stage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모델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높은 정확도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안정적인 성능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모델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(1)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34279" y="812871"/>
            <a:ext cx="4509721" cy="3825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사용 모델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RetinaNet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모델 구조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9712" lvl="0" indent="-183174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Focal Loss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9712" lvl="0" indent="-183174" algn="l">
              <a:buClr>
                <a:schemeClr val="dk1"/>
              </a:buClr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선택 이유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클래스 불균형 문제 해결에 대표적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Loss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easy negative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영향을 줄여</a:t>
            </a: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imbalance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문제 완화를 위해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모델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(2)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64319" y="1516674"/>
            <a:ext cx="5879680" cy="2110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/>
        </p:nvSpPr>
        <p:spPr>
          <a:xfrm>
            <a:off x="2523118" y="2346434"/>
            <a:ext cx="4104600" cy="354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700">
                <a:solidFill>
                  <a:srgbClr val="262626"/>
                </a:solidFill>
                <a:latin typeface="맑은 고딕"/>
                <a:ea typeface="맑은 고딕"/>
              </a:rPr>
              <a:t>실험 및 결과</a:t>
            </a:r>
            <a:endParaRPr lang="ko-KR" altLang="en-US" sz="17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3572217" y="2162227"/>
            <a:ext cx="934500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90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  <p:sp>
        <p:nvSpPr>
          <p:cNvPr id="272" name="Google Shape;118;p15"/>
          <p:cNvSpPr/>
          <p:nvPr/>
        </p:nvSpPr>
        <p:spPr>
          <a:xfrm>
            <a:off x="3573846" y="2192138"/>
            <a:ext cx="307916" cy="1548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3" name="Google Shape;119;p15"/>
          <p:cNvSpPr/>
          <p:nvPr/>
        </p:nvSpPr>
        <p:spPr>
          <a:xfrm>
            <a:off x="3881344" y="2192138"/>
            <a:ext cx="154800" cy="1548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4" name="Google Shape;120;p15"/>
          <p:cNvSpPr/>
          <p:nvPr/>
        </p:nvSpPr>
        <p:spPr>
          <a:xfrm rot="16200000" flipH="1">
            <a:off x="3916436" y="2192425"/>
            <a:ext cx="154800" cy="154800"/>
          </a:xfrm>
          <a:prstGeom prst="rtTriangle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5" name="Google Shape;121;p15"/>
          <p:cNvSpPr/>
          <p:nvPr/>
        </p:nvSpPr>
        <p:spPr>
          <a:xfrm>
            <a:off x="4067507" y="2192137"/>
            <a:ext cx="1530183" cy="154297"/>
          </a:xfrm>
          <a:prstGeom prst="rect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6" name="Google Shape;122;p15"/>
          <p:cNvSpPr txBox="1"/>
          <p:nvPr/>
        </p:nvSpPr>
        <p:spPr>
          <a:xfrm>
            <a:off x="3572217" y="2162227"/>
            <a:ext cx="934467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5</a:t>
            </a:r>
            <a:endPara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실험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1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Model : Faster R-CNN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Optimizer : SGD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Epoch :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lr : 0.005</a:t>
            </a: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실험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Model : Faster R-CNN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Optimizer : Adam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Epoch :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lr : 0.0005</a:t>
            </a: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실험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Model : RetinaNet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Optimizer : SGD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Epoch :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lr : 0.001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초기 실험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42883" y="3376193"/>
            <a:ext cx="6401117" cy="1767306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36377" y="799013"/>
            <a:ext cx="6407622" cy="22535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초기 실험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24" name=""/>
          <p:cNvGrpSpPr/>
          <p:nvPr/>
        </p:nvGrpSpPr>
        <p:grpSpPr>
          <a:xfrm rot="0">
            <a:off x="1567961" y="534865"/>
            <a:ext cx="6008077" cy="2234712"/>
            <a:chOff x="-864577" y="0"/>
            <a:chExt cx="10008578" cy="5143500"/>
          </a:xfrm>
        </p:grpSpPr>
        <p:pic>
          <p:nvPicPr>
            <p:cNvPr id="22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-864577" y="0"/>
              <a:ext cx="5006774" cy="5143500"/>
            </a:xfrm>
            <a:prstGeom prst="rect">
              <a:avLst/>
            </a:prstGeom>
          </p:spPr>
        </p:pic>
        <p:pic>
          <p:nvPicPr>
            <p:cNvPr id="23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137226" y="0"/>
              <a:ext cx="5006774" cy="5143500"/>
            </a:xfrm>
            <a:prstGeom prst="rect">
              <a:avLst/>
            </a:prstGeom>
          </p:spPr>
        </p:pic>
      </p:grpSp>
      <p:grpSp>
        <p:nvGrpSpPr>
          <p:cNvPr id="27" name=""/>
          <p:cNvGrpSpPr/>
          <p:nvPr/>
        </p:nvGrpSpPr>
        <p:grpSpPr>
          <a:xfrm rot="0">
            <a:off x="1538654" y="2864826"/>
            <a:ext cx="6066691" cy="2278673"/>
            <a:chOff x="-871903" y="0"/>
            <a:chExt cx="10015904" cy="5143500"/>
          </a:xfrm>
        </p:grpSpPr>
        <p:pic>
          <p:nvPicPr>
            <p:cNvPr id="25" name="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-871903" y="0"/>
              <a:ext cx="5006774" cy="5143500"/>
            </a:xfrm>
            <a:prstGeom prst="rect">
              <a:avLst/>
            </a:prstGeom>
          </p:spPr>
        </p:pic>
        <p:pic>
          <p:nvPicPr>
            <p:cNvPr id="26" name="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4137225" y="0"/>
              <a:ext cx="5006774" cy="51435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중복된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BBox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예측 결과를 시각화하여 확인한 결과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병변 내부에 여러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가 겹쳐서 예측되는 현상 확인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들이 겹쳐있는 예측은 일반적인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Detection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에서는 자연스러우나 해당 문제와는 맞지 않음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중복된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가 성능에 미치는 영향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(Metric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관점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RSNA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평가 지표에서 하나의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GT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당 하나의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Prediction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만 매칭됨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동일 병변에 대한 추가 예측은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FP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로 처리됨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결과적으로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Precision, mAP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의 감소로 성능 저하의 원인이 됨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개선 방향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후처리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적용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모델 내부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(RPN,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출력 단계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) NMS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threshold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수정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실험 및 결과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실험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1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Model : Faster R-CNN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Threshold : 0.20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 Treshold : 0.3</a:t>
            </a: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실험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Model : Faster R-CNN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Threshold : 0.25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 Treshold : 0.20</a:t>
            </a: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실험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Model : Faster R-CNN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Threshold : 0.25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 Treshold : 0.30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실험 및 결과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31325" y="618494"/>
            <a:ext cx="6312675" cy="4525006"/>
          </a:xfrm>
          <a:prstGeom prst="rect">
            <a:avLst/>
          </a:prstGeom>
        </p:spPr>
      </p:pic>
      <p:sp>
        <p:nvSpPr>
          <p:cNvPr id="15" name=""/>
          <p:cNvSpPr/>
          <p:nvPr/>
        </p:nvSpPr>
        <p:spPr>
          <a:xfrm>
            <a:off x="2818534" y="2840182"/>
            <a:ext cx="6325466" cy="2303318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66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실험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1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Threshold : 0.20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 Treshold : 0.3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rpn_nms_thresh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: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0.30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box_nms_thresh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: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0.30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실험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Threshold : 0.25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 Treshold : 0.20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rpn_nms_thresh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: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0.30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box_nms_thresh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: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0.30</a:t>
            </a: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실험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Threshold : 0.25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 Treshold : 0.30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rpn_nms_thresh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: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0.30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box_nms_thresh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: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0.30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실험 및 결과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31325" y="618494"/>
            <a:ext cx="6312675" cy="4525006"/>
          </a:xfrm>
          <a:prstGeom prst="rect">
            <a:avLst/>
          </a:prstGeom>
        </p:spPr>
      </p:pic>
      <p:sp>
        <p:nvSpPr>
          <p:cNvPr id="15" name=""/>
          <p:cNvSpPr/>
          <p:nvPr/>
        </p:nvSpPr>
        <p:spPr>
          <a:xfrm>
            <a:off x="2818534" y="611332"/>
            <a:ext cx="6325466" cy="2260022"/>
          </a:xfrm>
          <a:prstGeom prst="roundRect">
            <a:avLst>
              <a:gd name="adj" fmla="val 16667"/>
            </a:avLst>
          </a:prstGeom>
          <a:noFill/>
          <a:ln w="25400" cap="flat" cmpd="sng" algn="ctr">
            <a:solidFill>
              <a:srgbClr val="ff6600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실험 및 결과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aphicFrame>
        <p:nvGraphicFramePr>
          <p:cNvPr id="41" name=""/>
          <p:cNvGraphicFramePr>
            <a:graphicFrameLocks noGrp="1"/>
          </p:cNvGraphicFramePr>
          <p:nvPr/>
        </p:nvGraphicFramePr>
        <p:xfrm>
          <a:off x="0" y="539750"/>
          <a:ext cx="9144000" cy="3037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048000"/>
                <a:gridCol w="3048000"/>
                <a:gridCol w="3048000"/>
              </a:tblGrid>
              <a:tr h="3037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2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3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4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  <p:graphicFrame>
        <p:nvGraphicFramePr>
          <p:cNvPr id="46" name=""/>
          <p:cNvGraphicFramePr>
            <a:graphicFrameLocks noGrp="1"/>
          </p:cNvGraphicFramePr>
          <p:nvPr/>
        </p:nvGraphicFramePr>
        <p:xfrm>
          <a:off x="0" y="3674340"/>
          <a:ext cx="9144000" cy="370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048000"/>
                <a:gridCol w="3048000"/>
                <a:gridCol w="3048000"/>
              </a:tblGrid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</a:rPr>
                        <a:t>&lt;GT&gt;</a:t>
                      </a:r>
                      <a:endParaRPr lang="en-US" altLang="ko-KR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</a:rPr>
                        <a:t>&lt;before NMS&gt;</a:t>
                      </a:r>
                      <a:endParaRPr lang="en-US" altLang="ko-KR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</a:rPr>
                        <a:t>&lt;after NMS&gt;</a:t>
                      </a:r>
                      <a:endParaRPr lang="en-US" altLang="ko-KR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실험 및 결과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aphicFrame>
        <p:nvGraphicFramePr>
          <p:cNvPr id="41" name=""/>
          <p:cNvGraphicFramePr>
            <a:graphicFrameLocks noGrp="1"/>
          </p:cNvGraphicFramePr>
          <p:nvPr/>
        </p:nvGraphicFramePr>
        <p:xfrm>
          <a:off x="0" y="539750"/>
          <a:ext cx="9144000" cy="3037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048000"/>
                <a:gridCol w="3048000"/>
                <a:gridCol w="3048000"/>
              </a:tblGrid>
              <a:tr h="3037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2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3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4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  <p:graphicFrame>
        <p:nvGraphicFramePr>
          <p:cNvPr id="46" name=""/>
          <p:cNvGraphicFramePr>
            <a:graphicFrameLocks noGrp="1"/>
          </p:cNvGraphicFramePr>
          <p:nvPr/>
        </p:nvGraphicFramePr>
        <p:xfrm>
          <a:off x="0" y="3674340"/>
          <a:ext cx="9144000" cy="370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048000"/>
                <a:gridCol w="3048000"/>
                <a:gridCol w="3048000"/>
              </a:tblGrid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</a:rPr>
                        <a:t>&lt;GT&gt;</a:t>
                      </a:r>
                      <a:endParaRPr lang="en-US" altLang="ko-KR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</a:rPr>
                        <a:t>&lt;before NMS&gt;</a:t>
                      </a:r>
                      <a:endParaRPr lang="en-US" altLang="ko-KR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</a:rPr>
                        <a:t>&lt;after NMS&gt;</a:t>
                      </a:r>
                      <a:endParaRPr lang="en-US" altLang="ko-KR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실험 및 결과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aphicFrame>
        <p:nvGraphicFramePr>
          <p:cNvPr id="41" name=""/>
          <p:cNvGraphicFramePr>
            <a:graphicFrameLocks noGrp="1"/>
          </p:cNvGraphicFramePr>
          <p:nvPr/>
        </p:nvGraphicFramePr>
        <p:xfrm>
          <a:off x="0" y="539750"/>
          <a:ext cx="9144000" cy="3037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048000"/>
                <a:gridCol w="3048000"/>
                <a:gridCol w="3048000"/>
              </a:tblGrid>
              <a:tr h="3037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2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3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4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  <p:graphicFrame>
        <p:nvGraphicFramePr>
          <p:cNvPr id="48" name=""/>
          <p:cNvGraphicFramePr>
            <a:graphicFrameLocks noGrp="1"/>
          </p:cNvGraphicFramePr>
          <p:nvPr/>
        </p:nvGraphicFramePr>
        <p:xfrm>
          <a:off x="0" y="3674340"/>
          <a:ext cx="9144000" cy="3708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048000"/>
                <a:gridCol w="3048000"/>
                <a:gridCol w="3048000"/>
              </a:tblGrid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</a:rPr>
                        <a:t>&lt;GT&gt;</a:t>
                      </a:r>
                      <a:endParaRPr lang="en-US" altLang="ko-KR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</a:rPr>
                        <a:t>&lt;before NMS&gt;</a:t>
                      </a:r>
                      <a:endParaRPr lang="en-US" altLang="ko-KR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</a:rPr>
                        <a:t>&lt;after NMS&gt;</a:t>
                      </a:r>
                      <a:endParaRPr lang="en-US" altLang="ko-KR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후처리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적용 시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중복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감소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False Positive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감소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유의미한 성능 향상을 보임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(0.1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0.125)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모델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강화 추가 적용 시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후처리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적용만 했을 때 보다 성능 하락을 보임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(0.115)</a:t>
            </a: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일부 유효한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까지 제거된 것으로 유추됨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실험 및 결과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/>
        </p:nvSpPr>
        <p:spPr>
          <a:xfrm>
            <a:off x="2523118" y="2346434"/>
            <a:ext cx="4104600" cy="354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700">
                <a:solidFill>
                  <a:srgbClr val="262626"/>
                </a:solidFill>
                <a:latin typeface="맑은 고딕"/>
                <a:ea typeface="맑은 고딕"/>
              </a:rPr>
              <a:t>결론</a:t>
            </a:r>
            <a:endParaRPr lang="ko-KR" altLang="en-US" sz="17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3572217" y="2162227"/>
            <a:ext cx="934500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90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  <p:sp>
        <p:nvSpPr>
          <p:cNvPr id="272" name="Google Shape;118;p15"/>
          <p:cNvSpPr/>
          <p:nvPr/>
        </p:nvSpPr>
        <p:spPr>
          <a:xfrm>
            <a:off x="3573846" y="2192138"/>
            <a:ext cx="307916" cy="1548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3" name="Google Shape;119;p15"/>
          <p:cNvSpPr/>
          <p:nvPr/>
        </p:nvSpPr>
        <p:spPr>
          <a:xfrm>
            <a:off x="3881344" y="2192138"/>
            <a:ext cx="154800" cy="1548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4" name="Google Shape;120;p15"/>
          <p:cNvSpPr/>
          <p:nvPr/>
        </p:nvSpPr>
        <p:spPr>
          <a:xfrm rot="16200000" flipH="1">
            <a:off x="3916436" y="2192425"/>
            <a:ext cx="154800" cy="154800"/>
          </a:xfrm>
          <a:prstGeom prst="rtTriangle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5" name="Google Shape;121;p15"/>
          <p:cNvSpPr/>
          <p:nvPr/>
        </p:nvSpPr>
        <p:spPr>
          <a:xfrm>
            <a:off x="4067507" y="2192137"/>
            <a:ext cx="1530183" cy="154297"/>
          </a:xfrm>
          <a:prstGeom prst="rect">
            <a:avLst/>
          </a:prstGeom>
          <a:solidFill>
            <a:srgbClr val="d8d8d8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6" name="Google Shape;122;p15"/>
          <p:cNvSpPr txBox="1"/>
          <p:nvPr/>
        </p:nvSpPr>
        <p:spPr>
          <a:xfrm>
            <a:off x="3572217" y="2162227"/>
            <a:ext cx="934467" cy="21709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  <a:solidFill>
                  <a:srgbClr val="f2f2f2"/>
                </a:solidFill>
                <a:latin typeface="맑은 고딕"/>
                <a:ea typeface="맑은 고딕"/>
              </a:rPr>
              <a:t>6</a:t>
            </a:r>
            <a:endParaRPr xmlns:mc="http://schemas.openxmlformats.org/markup-compatibility/2006" xmlns:hp="http://schemas.haansoft.com/office/presentation/8.0" kumimoji="0" lang="en-US" altLang="ko-KR" sz="900" b="0" i="0" u="none" strike="noStrike" kern="0" cap="none" spc="0" normalizeH="0" baseline="0" mc:Ignorable="hp" hp:hslEmbossed="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-9525" y="874513"/>
            <a:ext cx="8229600" cy="4171125"/>
          </a:xfrm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결론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RSNA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에서 제공하는 흉부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X-ray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데이터를 기반으로 폐렴 탐지 모델을 구축하였다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Faster R-CNN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을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baseline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으로 설정한 뒤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,</a:t>
            </a: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하이퍼 파라미터 조정 및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RetinaNet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모델로의 확장을 통해 성능 개선을 시도하였다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모델의 예측 결과를 시각화하여 동일 병변에 대해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BBox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가 중복되어 있는 문제를 발견하였다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이는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RSNA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평가 지표에 부정적이고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폐렴 정답 데이터의 특징과도 맞지 않음을 확인하였다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후처리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를 적용하여 유의미한 성능 개선을 이루었다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모델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내부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강화를 통해 과한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NMS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는 오히려 성능이 저하됨을 보였다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Detection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성능이 모델 아키텍처 뿐만 아니라 후처리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평가 지표 이해에도 크게 의존함을 경험하였다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결론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;p3"/>
          <p:cNvSpPr>
            <a:spLocks noGrp="1"/>
          </p:cNvSpPr>
          <p:nvPr>
            <p:ph type="body" idx="1" hasCustomPrompt="1"/>
          </p:nvPr>
        </p:nvSpPr>
        <p:spPr>
          <a:xfrm>
            <a:off x="0" y="874513"/>
            <a:ext cx="8229600" cy="4171125"/>
          </a:xfrm>
        </p:spPr>
        <p:txBody>
          <a:bodyPr>
            <a:normAutofit lnSpcReduction="10000"/>
          </a:bodyPr>
          <a:lstStyle/>
          <a:p>
            <a:pPr marL="152400" lvl="0" indent="0" algn="l">
              <a:buClr>
                <a:schemeClr val="dk1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📌 향후 연구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일부 예측에서 심장 영역이 폐렴으로 오탐되는 현상을 확인하였다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심장은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POS(AP, PA)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에 따라 심장 크기가 다르게 보이는 특성이 있는데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본 연구에서는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POS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컬럼을 이용하지 않아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모델이 그에 따른 특성을 학습하지 못하였다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.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추후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POS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와 anatomical prior를 적용하여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FP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를 줄이는 연구가 필요하다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현재 모델은 일반 데이터로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pre-trained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된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backbone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을 사용하고 있어 의료 영상 특성에 최적화되지 않았을 가능성이 있다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의료 영상은 촬영 조건과 구조가 비교적 훨씬 일정하기 때문에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양질의 데이터만 주어진다면</a:t>
            </a:r>
            <a:b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pre-trained - fine tuning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이 아닌 의료 데이터 만으로 학습시키는 전략이 유효할 수 있다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주어진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Mask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데이터를 활용하여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Segmentation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chemeClr val="dk1"/>
                </a:solidFill>
                <a:ea typeface="맑은 고딕"/>
              </a:rPr>
              <a:t> 기반 접근을 하여 병변 위치를 더욱 정밀하게 예측한다면 성능 향상에 도움이 될 것이다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285660" lvl="0" indent="-171360" algn="l">
              <a:buClr>
                <a:schemeClr val="dk1"/>
              </a:buClr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1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152400" lvl="0" indent="0" algn="l">
              <a:buClr>
                <a:schemeClr val="dk1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23760" lvl="0" indent="-17136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  <a:p>
            <a:pPr marL="366600" lvl="0" indent="-214200" algn="l">
              <a:buClr>
                <a:schemeClr val="dk1"/>
              </a:buClr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chemeClr val="dk1"/>
              </a:solidFill>
              <a:ea typeface="맑은 고딕"/>
            </a:endParaRPr>
          </a:p>
        </p:txBody>
      </p:sp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결론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참고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8" name=""/>
          <p:cNvSpPr/>
          <p:nvPr/>
        </p:nvSpPr>
        <p:spPr>
          <a:xfrm>
            <a:off x="0" y="800417"/>
            <a:ext cx="9144000" cy="8455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marL="142800" indent="-142800" algn="l"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sz="1000" b="0" i="0" u="sng" strike="noStrike" mc:Ignorable="hp" hp:hslEmbossed="0">
                <a:solidFill>
                  <a:schemeClr val="dk1"/>
                </a:solidFill>
                <a:latin typeface="Arial"/>
                <a:ea typeface="굴림"/>
                <a:hlinkClick r:id="rId2"/>
              </a:rPr>
              <a:t>https://docs.pytorch.org/vision/main/_modules/torchvision/models/detection/faster_rcnn.html</a:t>
            </a:r>
            <a:endParaRPr xmlns:mc="http://schemas.openxmlformats.org/markup-compatibility/2006" xmlns:hp="http://schemas.haansoft.com/office/presentation/8.0" sz="1000" b="0" i="0" u="sng" strike="noStrike" mc:Ignorable="hp" hp:hslEmbossed="0">
              <a:solidFill>
                <a:schemeClr val="dk1"/>
              </a:solidFill>
              <a:latin typeface="Arial"/>
              <a:ea typeface="굴림"/>
            </a:endParaRPr>
          </a:p>
          <a:p>
            <a:pPr marL="142800" indent="-142800" algn="l"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sz="1000" b="0" i="0" u="sng" strike="noStrike" mc:Ignorable="hp" hp:hslEmbossed="0">
                <a:solidFill>
                  <a:schemeClr val="dk1"/>
                </a:solidFill>
                <a:latin typeface="Arial"/>
                <a:ea typeface="굴림"/>
                <a:hlinkClick r:id="rId3"/>
              </a:rPr>
              <a:t>https://github.com/pytorch/vision/blob/main/torchvision/models/detection/rpn.py</a:t>
            </a:r>
            <a:endParaRPr xmlns:mc="http://schemas.openxmlformats.org/markup-compatibility/2006" xmlns:hp="http://schemas.haansoft.com/office/presentation/8.0" sz="1000" b="0" i="0" u="sng" strike="noStrike" mc:Ignorable="hp" hp:hslEmbossed="0">
              <a:solidFill>
                <a:schemeClr val="dk1"/>
              </a:solidFill>
              <a:latin typeface="Arial"/>
              <a:ea typeface="굴림"/>
            </a:endParaRPr>
          </a:p>
          <a:p>
            <a:pPr marL="142800" indent="-142800" algn="l"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1000" b="0" i="0" u="sng" strike="noStrike" mc:Ignorable="hp" hp:hslEmbossed="0">
                <a:solidFill>
                  <a:schemeClr val="dk1"/>
                </a:solidFill>
                <a:latin typeface="Arial"/>
                <a:ea typeface="굴림"/>
                <a:hlinkClick r:id="rId4"/>
              </a:rPr>
              <a:t>https://m.blog.naver.com/dkrlaosx/222974417261</a:t>
            </a:r>
            <a:endParaRPr xmlns:mc="http://schemas.openxmlformats.org/markup-compatibility/2006" xmlns:hp="http://schemas.haansoft.com/office/presentation/8.0" lang="en-US" sz="1000" b="0" i="0" u="sng" strike="noStrike" mc:Ignorable="hp" hp:hslEmbossed="0">
              <a:solidFill>
                <a:schemeClr val="dk1"/>
              </a:solidFill>
              <a:latin typeface="Arial"/>
              <a:ea typeface="굴림"/>
            </a:endParaRPr>
          </a:p>
          <a:p>
            <a:pPr marL="142800" indent="-142800" algn="l"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sz="1000" b="0" i="0" u="sng" strike="noStrike" mc:Ignorable="hp" hp:hslEmbossed="0">
                <a:solidFill>
                  <a:schemeClr val="dk1"/>
                </a:solidFill>
                <a:latin typeface="Arial"/>
                <a:ea typeface="굴림"/>
                <a:hlinkClick r:id="rId5"/>
              </a:rPr>
              <a:t>https://blog.naver.com/rudghkdmlqkd/223955076822</a:t>
            </a:r>
            <a:endParaRPr xmlns:mc="http://schemas.openxmlformats.org/markup-compatibility/2006" xmlns:hp="http://schemas.haansoft.com/office/presentation/8.0" lang="en-US" sz="1000" b="0" i="0" u="sng" strike="noStrike" mc:Ignorable="hp" hp:hslEmbossed="0">
              <a:solidFill>
                <a:schemeClr val="dk1"/>
              </a:solidFill>
              <a:latin typeface="Arial"/>
              <a:ea typeface="굴림"/>
            </a:endParaRPr>
          </a:p>
          <a:p>
            <a:pPr marL="142800" indent="-142800" algn="l"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lang="en-US" sz="1000" b="0" i="0" u="sng" strike="noStrike" mc:Ignorable="hp" hp:hslEmbossed="0">
              <a:solidFill>
                <a:schemeClr val="dk1"/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6;p24"/>
          <p:cNvSpPr/>
          <p:nvPr/>
        </p:nvSpPr>
        <p:spPr>
          <a:xfrm>
            <a:off x="98626" y="60348"/>
            <a:ext cx="8928900" cy="72000"/>
          </a:xfrm>
          <a:prstGeom prst="rect">
            <a:avLst/>
          </a:prstGeom>
          <a:solidFill>
            <a:srgbClr val="262626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" name="Google Shape;227;p24"/>
          <p:cNvSpPr/>
          <p:nvPr/>
        </p:nvSpPr>
        <p:spPr>
          <a:xfrm>
            <a:off x="98625" y="168851"/>
            <a:ext cx="1872300" cy="323400"/>
          </a:xfrm>
          <a:prstGeom prst="rect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rPr>
              <a:t>부록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" name="Google Shape;228;p24"/>
          <p:cNvSpPr/>
          <p:nvPr/>
        </p:nvSpPr>
        <p:spPr>
          <a:xfrm>
            <a:off x="1970832" y="168850"/>
            <a:ext cx="323400" cy="323400"/>
          </a:xfrm>
          <a:prstGeom prst="rtTriangle">
            <a:avLst/>
          </a:prstGeom>
          <a:solidFill>
            <a:srgbClr val="0f243e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pSp>
        <p:nvGrpSpPr>
          <p:cNvPr id="7" name="Google Shape;229;p24"/>
          <p:cNvGrpSpPr/>
          <p:nvPr/>
        </p:nvGrpSpPr>
        <p:grpSpPr>
          <a:xfrm rot="0">
            <a:off x="2016352" y="168991"/>
            <a:ext cx="7011266" cy="323403"/>
            <a:chOff x="2016352" y="168991"/>
            <a:chExt cx="7011266" cy="323403"/>
          </a:xfrm>
        </p:grpSpPr>
        <p:sp>
          <p:nvSpPr>
            <p:cNvPr id="8" name="Google Shape;230;p24"/>
            <p:cNvSpPr/>
            <p:nvPr/>
          </p:nvSpPr>
          <p:spPr>
            <a:xfrm rot="10800000">
              <a:off x="2339718" y="168991"/>
              <a:ext cx="6687900" cy="32340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  <p:sp>
          <p:nvSpPr>
            <p:cNvPr id="9" name="Google Shape;231;p24"/>
            <p:cNvSpPr/>
            <p:nvPr/>
          </p:nvSpPr>
          <p:spPr>
            <a:xfrm rot="10800000">
              <a:off x="2016352" y="168994"/>
              <a:ext cx="323400" cy="323400"/>
            </a:xfrm>
            <a:prstGeom prst="rtTriangle">
              <a:avLst/>
            </a:prstGeom>
            <a:solidFill>
              <a:srgbClr val="bfbfbf">
                <a:alpha val="100000"/>
              </a:srgbClr>
            </a:solidFill>
            <a:ln>
              <a:noFill/>
            </a:ln>
          </p:spPr>
          <p:txBody>
            <a:bodyPr wrap="square" lIns="91424" tIns="45700" rIns="91424" bIns="45700" anchor="ctr" anchorCtr="0">
              <a:noAutofit/>
            </a:bodyPr>
            <a:p>
              <a:pPr marL="0" marR="0" lvl="0" indent="0" algn="ctr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endParaRPr>
            </a:p>
          </p:txBody>
        </p:sp>
      </p:grpSp>
      <p:sp>
        <p:nvSpPr>
          <p:cNvPr id="10" name="Google Shape;232;p24"/>
          <p:cNvSpPr/>
          <p:nvPr/>
        </p:nvSpPr>
        <p:spPr>
          <a:xfrm>
            <a:off x="160427" y="198012"/>
            <a:ext cx="50400" cy="255300"/>
          </a:xfrm>
          <a:prstGeom prst="rect">
            <a:avLst/>
          </a:prstGeom>
          <a:solidFill>
            <a:srgbClr val="dae5f1">
              <a:alpha val="100000"/>
            </a:srgbClr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800" b="0" i="0" u="none" strike="noStrike" kern="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aphicFrame>
        <p:nvGraphicFramePr>
          <p:cNvPr id="37" name=""/>
          <p:cNvGraphicFramePr>
            <a:graphicFrameLocks noGrp="1"/>
          </p:cNvGraphicFramePr>
          <p:nvPr/>
        </p:nvGraphicFramePr>
        <p:xfrm>
          <a:off x="163079" y="827693"/>
          <a:ext cx="7091795" cy="348811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363931"/>
                <a:gridCol w="2363931"/>
                <a:gridCol w="2363931"/>
              </a:tblGrid>
              <a:tr h="3488113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2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3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blipFill rotWithShape="1">
                      <a:blip r:embed="rId4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7"/>
          <p:cNvSpPr/>
          <p:nvPr/>
        </p:nvSpPr>
        <p:spPr>
          <a:xfrm>
            <a:off x="3491199" y="2139702"/>
            <a:ext cx="542700" cy="2292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38" name="Google Shape;538;p47"/>
          <p:cNvSpPr txBox="1"/>
          <p:nvPr/>
        </p:nvSpPr>
        <p:spPr>
          <a:xfrm>
            <a:off x="3474302" y="2139702"/>
            <a:ext cx="934500" cy="2463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000">
                <a:solidFill>
                  <a:srgbClr val="f2f2f2"/>
                </a:solidFill>
                <a:latin typeface="맑은 고딕"/>
                <a:ea typeface="맑은 고딕"/>
              </a:rPr>
              <a:t>THE</a:t>
            </a:r>
            <a:endParaRPr sz="1000">
              <a:solidFill>
                <a:srgbClr val="f2f2f2"/>
              </a:solidFill>
              <a:latin typeface="맑은 고딕"/>
              <a:ea typeface="맑은 고딕"/>
            </a:endParaRPr>
          </a:p>
        </p:txBody>
      </p:sp>
      <p:sp>
        <p:nvSpPr>
          <p:cNvPr id="539" name="Google Shape;539;p47"/>
          <p:cNvSpPr/>
          <p:nvPr/>
        </p:nvSpPr>
        <p:spPr>
          <a:xfrm>
            <a:off x="4032117" y="2139702"/>
            <a:ext cx="216900" cy="229200"/>
          </a:xfrm>
          <a:prstGeom prst="rtTriangle">
            <a:avLst/>
          </a:prstGeom>
          <a:solidFill>
            <a:srgbClr val="0f243e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40" name="Google Shape;540;p47"/>
          <p:cNvSpPr/>
          <p:nvPr/>
        </p:nvSpPr>
        <p:spPr>
          <a:xfrm rot="16200000" flipH="1">
            <a:off x="4055036" y="2141953"/>
            <a:ext cx="233700" cy="229200"/>
          </a:xfrm>
          <a:prstGeom prst="rtTriangle">
            <a:avLst/>
          </a:prstGeom>
          <a:solidFill>
            <a:srgbClr val="d8d8d8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41" name="Google Shape;541;p47"/>
          <p:cNvSpPr/>
          <p:nvPr/>
        </p:nvSpPr>
        <p:spPr>
          <a:xfrm>
            <a:off x="4286479" y="2139702"/>
            <a:ext cx="1348200" cy="225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3507529" y="2818838"/>
            <a:ext cx="2138400" cy="34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43" name="Google Shape;543;p47"/>
          <p:cNvSpPr txBox="1"/>
          <p:nvPr/>
        </p:nvSpPr>
        <p:spPr>
          <a:xfrm>
            <a:off x="2555776" y="2427734"/>
            <a:ext cx="4104600" cy="3693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800">
                <a:solidFill>
                  <a:srgbClr val="262626"/>
                </a:solidFill>
                <a:latin typeface="맑은 고딕"/>
                <a:ea typeface="맑은 고딕"/>
              </a:rPr>
              <a:t>감사합니다</a:t>
            </a:r>
            <a:endParaRPr sz="180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544" name="Google Shape;544;p47"/>
          <p:cNvSpPr txBox="1"/>
          <p:nvPr/>
        </p:nvSpPr>
        <p:spPr>
          <a:xfrm>
            <a:off x="4717653" y="2147396"/>
            <a:ext cx="934500" cy="2463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1000">
                <a:solidFill>
                  <a:srgbClr val="3f3f3f"/>
                </a:solidFill>
                <a:latin typeface="맑은 고딕"/>
                <a:ea typeface="맑은 고딕"/>
              </a:rPr>
              <a:t>END</a:t>
            </a:r>
            <a:endParaRPr sz="1000">
              <a:solidFill>
                <a:srgbClr val="3f3f3f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638</ep:Words>
  <ep:PresentationFormat/>
  <ep:Paragraphs>174</ep:Paragraphs>
  <ep:Slides>28</ep:Slides>
  <ep:Notes>11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ep:HeadingPairs>
  <ep:TitlesOfParts>
    <vt:vector size="29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PHD</cp:lastModifiedBy>
  <dcterms:modified xsi:type="dcterms:W3CDTF">2026-04-16T14:29:05.804</dcterms:modified>
  <cp:revision>135</cp:revision>
  <cp:version/>
</cp:coreProperties>
</file>